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5143500" cy="9144000"/>
  <p:embeddedFontLst>
    <p:embeddedFont>
      <p:font typeface="Proxima Nova"/>
      <p:regular r:id="rId13"/>
      <p:bold r:id="rId14"/>
      <p:italic r:id="rId15"/>
      <p:boldItalic r:id="rId16"/>
    </p:embeddedFont>
    <p:embeddedFont>
      <p:font typeface="Proxima Nova Extrabold"/>
      <p:bold r:id="rId17"/>
    </p:embeddedFont>
    <p:embeddedFont>
      <p:font typeface="Proxima Nova Semibold"/>
      <p:regular r:id="rId18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B7467F-E159-486A-ADDB-7F6E804B795B}">
  <a:tblStyle styleId="{55B7467F-E159-486A-ADDB-7F6E804B795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italic.fntdata"/><Relationship Id="rId14" Type="http://schemas.openxmlformats.org/officeDocument/2006/relationships/font" Target="fonts/ProximaNova-bold.fntdata"/><Relationship Id="rId17" Type="http://schemas.openxmlformats.org/officeDocument/2006/relationships/font" Target="fonts/ProximaNovaExtrabold-bold.fntdata"/><Relationship Id="rId16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Semibold-bold.fntdata"/><Relationship Id="rId6" Type="http://schemas.openxmlformats.org/officeDocument/2006/relationships/slide" Target="slides/slide1.xml"/><Relationship Id="rId18" Type="http://schemas.openxmlformats.org/officeDocument/2006/relationships/font" Target="fonts/ProximaNova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david.del.rio0814@gmail.com" TargetMode="External"/><Relationship Id="rId4" Type="http://schemas.openxmlformats.org/officeDocument/2006/relationships/hyperlink" Target="mailto:david.del.rio0814@gmail.com" TargetMode="External"/><Relationship Id="rId5" Type="http://schemas.openxmlformats.org/officeDocument/2006/relationships/hyperlink" Target="mailto:david.del.rio0814@gmail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mailto:david.del.rio0814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640" y="109728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 Black"/>
              <a:buNone/>
            </a:pPr>
            <a:r>
              <a:rPr i="0" lang="en-US" sz="5400" u="none" cap="none" strike="noStrike">
                <a:solidFill>
                  <a:srgbClr val="C55A1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VOID:LIVE</a:t>
            </a:r>
            <a:endParaRPr i="0" sz="5400" u="none" cap="none" strike="noStrike">
              <a:solidFill>
                <a:srgbClr val="C55A1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2057400"/>
            <a:ext cx="320040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22860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rgbClr val="C55A11"/>
                </a:solidFill>
                <a:latin typeface="Proxima Nova"/>
                <a:ea typeface="Proxima Nova"/>
                <a:cs typeface="Proxima Nova"/>
                <a:sym typeface="Proxima Nova"/>
              </a:rPr>
              <a:t>Media Kit 2026</a:t>
            </a:r>
            <a:endParaRPr i="0" sz="2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30175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Producción audiovisual musical de formato live session</a:t>
            </a:r>
            <a:endParaRPr i="0" sz="13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para plataformas digitales</a:t>
            </a:r>
            <a:endParaRPr i="0" sz="13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943600" y="384048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Guadalajara, México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YouTube · Instagram · TikTok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lang="en-US" sz="10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david.del.rio0814</a:t>
            </a:r>
            <a:r>
              <a:rPr i="0" lang="en-US" sz="1000" u="sng" cap="none" strike="noStrike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@</a:t>
            </a:r>
            <a:r>
              <a:rPr lang="en-US" sz="10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5"/>
              </a:rPr>
              <a:t>gmail.com</a:t>
            </a:r>
            <a:endParaRPr sz="1000">
              <a:solidFill>
                <a:srgbClr val="88888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3322064275</a:t>
            </a:r>
            <a:endParaRPr sz="1000">
              <a:solidFill>
                <a:srgbClr val="88888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0" y="5088636"/>
            <a:ext cx="274320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Arial Black"/>
              <a:buNone/>
            </a:pPr>
            <a:r>
              <a:rPr i="0" lang="en-US" sz="2800" u="none" cap="none" strike="noStrike">
                <a:solidFill>
                  <a:srgbClr val="22222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¿Qué es VOID:LIVE?</a:t>
            </a:r>
            <a:endParaRPr i="0" sz="28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097280"/>
            <a:ext cx="4389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VOID:LIVE es un formato de live session audiovisual de producción profesional, diseñado para posicionar artistas emergentes mexicanos en plataformas digitales. Combinamos estética minimalista, audio de calidad de estudio y video cinemático en un espacio controlado para crear contenido que se distingue de todo lo que existe actualmente en México.</a:t>
            </a:r>
            <a:endParaRPr i="0" sz="1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2651760"/>
            <a:ext cx="4389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Inspirado en referentes internacionales como Colors (10M+ suscriptores), Gallery Sessions y Elevator Music, VOID:LIVE llena un vacío en el mercado mexicano donde no existe un formato comparable con identidad visual profesional y escalable.</a:t>
            </a:r>
            <a:endParaRPr i="0" sz="1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394960" y="914400"/>
            <a:ext cx="3291840" cy="82296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394960" y="914400"/>
            <a:ext cx="54864" cy="8229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577840" y="9601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Minimalista</a:t>
            </a:r>
            <a:endParaRPr b="1" i="0" sz="13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577840" y="12801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Estética limpia y simétrica que prioriza al artista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394960" y="1874520"/>
            <a:ext cx="3291840" cy="82296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394960" y="1874520"/>
            <a:ext cx="54864" cy="8229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577840" y="19202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Multiplataforma</a:t>
            </a:r>
            <a:endParaRPr b="1" i="0" sz="13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577840" y="22402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YouTube, Instagram Reels y TikTok nativamente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394960" y="2834640"/>
            <a:ext cx="3291840" cy="82296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394960" y="2834640"/>
            <a:ext cx="54864" cy="8229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577840" y="28803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Profesional</a:t>
            </a:r>
            <a:endParaRPr b="1" i="0" sz="13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577840" y="32004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Audio de calidad de estudio con video cinemático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394960" y="3794760"/>
            <a:ext cx="3291840" cy="82296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394960" y="3794760"/>
            <a:ext cx="54864" cy="8229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577840" y="38404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Escalable</a:t>
            </a:r>
            <a:endParaRPr b="1" i="0" sz="13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577840" y="41605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Producción mensual con visión nacional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VOID:LIVE · Media Kit · 2026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Arial Black"/>
              <a:buNone/>
            </a:pPr>
            <a:r>
              <a:rPr i="0" lang="en-US" sz="2800" u="none" cap="none" strike="noStrike">
                <a:solidFill>
                  <a:srgbClr val="22222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Audiencia y Alcance Proyectado</a:t>
            </a:r>
            <a:endParaRPr i="0" sz="28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Mercado objetivo: jóvenes de 18–30 años consumidores de música digital en México</a:t>
            </a:r>
            <a:endParaRPr i="0" sz="1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1325880"/>
            <a:ext cx="1874520" cy="1005840"/>
          </a:xfrm>
          <a:prstGeom prst="rect">
            <a:avLst/>
          </a:prstGeom>
          <a:solidFill>
            <a:srgbClr val="FFF5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48640" y="13716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 Black"/>
              <a:buNone/>
            </a:pPr>
            <a:r>
              <a:rPr i="0" lang="en-US" sz="2400" u="none" cap="none" strike="noStrike">
                <a:solidFill>
                  <a:srgbClr val="C55A1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5-10</a:t>
            </a:r>
            <a:endParaRPr i="0" sz="24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173736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C55A11"/>
                </a:solidFill>
                <a:latin typeface="Proxima Nova"/>
                <a:ea typeface="Proxima Nova"/>
                <a:cs typeface="Proxima Nova"/>
                <a:sym typeface="Proxima Nova"/>
              </a:rPr>
              <a:t>millones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8640" y="192024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Mercado potencial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en México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606040" y="1325880"/>
            <a:ext cx="1874520" cy="1005840"/>
          </a:xfrm>
          <a:prstGeom prst="rect">
            <a:avLst/>
          </a:prstGeom>
          <a:solidFill>
            <a:srgbClr val="FFF5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606040" y="13716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 Black"/>
              <a:buNone/>
            </a:pPr>
            <a:r>
              <a:rPr i="0" lang="en-US" sz="2400" u="none" cap="none" strike="noStrike">
                <a:solidFill>
                  <a:srgbClr val="C55A1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40</a:t>
            </a:r>
            <a:endParaRPr i="0" sz="24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606040" y="173736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C55A11"/>
                </a:solidFill>
                <a:latin typeface="Proxima Nova"/>
                <a:ea typeface="Proxima Nova"/>
                <a:cs typeface="Proxima Nova"/>
                <a:sym typeface="Proxima Nova"/>
              </a:rPr>
              <a:t>millones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606040" y="192024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Personas 18-30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en México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663440" y="1325880"/>
            <a:ext cx="1874520" cy="1005840"/>
          </a:xfrm>
          <a:prstGeom prst="rect">
            <a:avLst/>
          </a:prstGeom>
          <a:solidFill>
            <a:srgbClr val="FFF5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663440" y="13716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 Black"/>
              <a:buNone/>
            </a:pPr>
            <a:r>
              <a:rPr i="0" lang="en-US" sz="2400" u="none" cap="none" strike="noStrike">
                <a:solidFill>
                  <a:srgbClr val="C55A1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80%+</a:t>
            </a:r>
            <a:endParaRPr i="0" sz="24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663440" y="173736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663440" y="192024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Usuarios activos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de internet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720840" y="1325880"/>
            <a:ext cx="1874520" cy="1005840"/>
          </a:xfrm>
          <a:prstGeom prst="rect">
            <a:avLst/>
          </a:prstGeom>
          <a:solidFill>
            <a:srgbClr val="FFF5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720840" y="13716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 Black"/>
              <a:buNone/>
            </a:pPr>
            <a:r>
              <a:rPr i="0" lang="en-US" sz="2400" u="none" cap="none" strike="noStrike">
                <a:solidFill>
                  <a:srgbClr val="C55A1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+15%</a:t>
            </a:r>
            <a:endParaRPr i="0" sz="24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720840" y="173736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720840" y="192024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Consumidores de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live sessions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48640" y="25603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Métricas proyectadas a 12 meses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4" name="Google Shape;74;p5"/>
          <p:cNvGraphicFramePr/>
          <p:nvPr/>
        </p:nvGraphicFramePr>
        <p:xfrm>
          <a:off x="548640" y="2926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{55B7467F-E159-486A-ADDB-7F6E804B795B}</a:tableStyleId>
              </a:tblPr>
              <a:tblGrid>
                <a:gridCol w="2377450"/>
                <a:gridCol w="1892800"/>
                <a:gridCol w="1892800"/>
                <a:gridCol w="1892800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Plataforma</a:t>
                      </a:r>
                      <a:endParaRPr b="1"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Mes 1-3</a:t>
                      </a:r>
                      <a:endParaRPr b="1"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Mes 4-6</a:t>
                      </a:r>
                      <a:endParaRPr b="1"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Mes 7-12</a:t>
                      </a:r>
                      <a:endParaRPr b="1"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YouTube (views/video)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1,200 - 3,600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3,600 - 6,000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6,000 - 18,000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Suscriptores YouTube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120 - 360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360 - 1,200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1,200 - 6,000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Seguidores Instagram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240 - 600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600 - 2,400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2,400 - 12,000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Seguidores TikTok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240 - 600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600 - 3,600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3,600 - 18,000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Engagement Rate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&gt;5%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&gt;4%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&gt;3%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Retención (watch time)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&gt;40%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&gt;45%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33333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&gt;50%</a:t>
                      </a:r>
                      <a:endParaRPr sz="9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F"/>
                    </a:solidFill>
                  </a:tcPr>
                </a:tc>
              </a:tr>
            </a:tbl>
          </a:graphicData>
        </a:graphic>
      </p:graphicFrame>
      <p:sp>
        <p:nvSpPr>
          <p:cNvPr id="75" name="Google Shape;75;p5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VOID:LIVE · Media Kit · 2026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Arial Black"/>
              <a:buNone/>
            </a:pPr>
            <a:r>
              <a:rPr i="0" lang="en-US" sz="2800" u="none" cap="none" strike="noStrike">
                <a:solidFill>
                  <a:srgbClr val="22222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Contenido por Sesión</a:t>
            </a:r>
            <a:endParaRPr i="0" sz="28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48640" y="8686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555555"/>
                </a:solidFill>
                <a:latin typeface="Proxima Nova"/>
                <a:ea typeface="Proxima Nova"/>
                <a:cs typeface="Proxima Nova"/>
                <a:sym typeface="Proxima Nova"/>
              </a:rPr>
              <a:t>Cada sesión mensual genera entre 10 y 15 piezas de contenido optimizadas para cada plataforma, maximizando el rendimiento de cada producción y la exposición de tu marca.</a:t>
            </a:r>
            <a:endParaRPr i="0" sz="1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48640" y="1508760"/>
            <a:ext cx="2148840" cy="283464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48640" y="1508760"/>
            <a:ext cx="2148840" cy="5943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48640" y="155448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YouTube</a:t>
            </a:r>
            <a:endParaRPr b="1" i="0" sz="15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48640" y="182880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FF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DDDDFF"/>
                </a:solidFill>
                <a:latin typeface="Proxima Nova"/>
                <a:ea typeface="Proxima Nova"/>
                <a:cs typeface="Proxima Nova"/>
                <a:sym typeface="Proxima Nova"/>
              </a:rPr>
              <a:t>Video completo + individuales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89936" y="2398195"/>
            <a:ext cx="18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✓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822960" y="2273554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Sesión completa (15-20 min)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89936" y="2855395"/>
            <a:ext cx="18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✓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822960" y="2730754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Videos individuales por canción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89936" y="3312595"/>
            <a:ext cx="18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✓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822960" y="3187954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Optimizado para SEO y retención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89936" y="3769795"/>
            <a:ext cx="18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✓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22960" y="3645154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Descripción con links y créditos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2880360" y="1508760"/>
            <a:ext cx="2148840" cy="283464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2880360" y="1508760"/>
            <a:ext cx="2148840" cy="5943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2880360" y="155448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Instagram</a:t>
            </a:r>
            <a:endParaRPr b="1" i="0" sz="15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880360" y="182880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FF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DDDDFF"/>
                </a:solidFill>
                <a:latin typeface="Proxima Nova"/>
                <a:ea typeface="Proxima Nova"/>
                <a:cs typeface="Proxima Nova"/>
                <a:sym typeface="Proxima Nova"/>
              </a:rPr>
              <a:t>Reels + Stories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3021656" y="2398195"/>
            <a:ext cx="18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✓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154680" y="2273554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3-4 Reels por semana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021656" y="2855395"/>
            <a:ext cx="18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✓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3154680" y="2730754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Contenido behind-the-scenes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021656" y="3312595"/>
            <a:ext cx="18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✓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154680" y="3187954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Carruseles de fotos del rodaje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021656" y="3769795"/>
            <a:ext cx="18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✓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154680" y="3678392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Stories con interacción (encuestas, Q&amp;A)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212080" y="1508760"/>
            <a:ext cx="2148840" cy="283464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212080" y="1508760"/>
            <a:ext cx="2148840" cy="5943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212080" y="155448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TikTok</a:t>
            </a:r>
            <a:endParaRPr b="1" i="0" sz="15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212080" y="182880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FF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DDDDFF"/>
                </a:solidFill>
                <a:latin typeface="Proxima Nova"/>
                <a:ea typeface="Proxima Nova"/>
                <a:cs typeface="Proxima Nova"/>
                <a:sym typeface="Proxima Nova"/>
              </a:rPr>
              <a:t>Clips nativos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353376" y="2398195"/>
            <a:ext cx="18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✓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486400" y="2273554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4-5 clips por semana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353376" y="2855395"/>
            <a:ext cx="18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✓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486400" y="2730754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Formato nativo vertical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353376" y="3312595"/>
            <a:ext cx="18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✓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486400" y="3187954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Momentos clave de la sesión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353376" y="3769795"/>
            <a:ext cx="18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✓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486400" y="3645154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Alto potencial de alcance orgánico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589520" y="1508760"/>
            <a:ext cx="1188720" cy="2834640"/>
          </a:xfrm>
          <a:prstGeom prst="rect">
            <a:avLst/>
          </a:prstGeom>
          <a:solidFill>
            <a:srgbClr val="FFF5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589520" y="16459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C55A1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Total</a:t>
            </a:r>
            <a:endParaRPr i="0" sz="12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589520" y="196596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3000"/>
              <a:buFont typeface="Arial Black"/>
              <a:buNone/>
            </a:pPr>
            <a:r>
              <a:rPr i="0" lang="en-US" sz="3000" u="none" cap="none" strike="noStrike">
                <a:solidFill>
                  <a:srgbClr val="C55A1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10-15</a:t>
            </a:r>
            <a:endParaRPr i="0" sz="30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7589520" y="246888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piezas de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contenido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7589520" y="283464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por sesión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7726680" y="3200400"/>
            <a:ext cx="914400" cy="3657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589520" y="333756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C55A1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Alcance est.</a:t>
            </a:r>
            <a:endParaRPr i="0" sz="9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589520" y="356616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800"/>
              <a:buFont typeface="Arial Black"/>
              <a:buNone/>
            </a:pPr>
            <a:r>
              <a:rPr i="0" lang="en-US" sz="1800" u="none" cap="none" strike="noStrike">
                <a:solidFill>
                  <a:srgbClr val="C55A1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60,000+</a:t>
            </a:r>
            <a:endParaRPr i="0" sz="18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589520" y="384048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</a:pPr>
            <a:r>
              <a:rPr i="0" lang="en-US" sz="7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impresiones/mes</a:t>
            </a:r>
            <a:endParaRPr i="0" sz="7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VOID:LIVE · Media Kit · 2026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Arial Black"/>
              <a:buNone/>
            </a:pPr>
            <a:r>
              <a:rPr i="0" lang="en-US" sz="2800" u="none" cap="none" strike="noStrike">
                <a:solidFill>
                  <a:srgbClr val="22222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Paquetes de Patrocinio</a:t>
            </a:r>
            <a:endParaRPr i="0" sz="28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Elige el nivel de visibilidad que mejor se adapte a tu marca y objetivos.</a:t>
            </a:r>
            <a:endParaRPr i="0" sz="1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F5F5FF"/>
          </a:solidFill>
          <a:ln cap="flat" cmpd="sng" w="12700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7200" y="12801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</a:pPr>
            <a:r>
              <a:rPr i="0" lang="en-US" sz="1400" u="none" cap="none" strike="noStrike">
                <a:solidFill>
                  <a:srgbClr val="0000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BÁSICO</a:t>
            </a:r>
            <a:endParaRPr i="0" sz="14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57200" y="16002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 Black"/>
              <a:buNone/>
            </a:pPr>
            <a:r>
              <a:rPr i="0" lang="en-US" sz="1600" u="none" cap="none" strike="noStrike">
                <a:solidFill>
                  <a:srgbClr val="22222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$15,000</a:t>
            </a:r>
            <a:endParaRPr i="0" sz="16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19202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MXN / sesión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31520" y="2148840"/>
            <a:ext cx="2011680" cy="9144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40080" y="224028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✓  Logo </a:t>
            </a: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en end card (YouTube)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40080" y="2587752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✓  Mención en descripción de videos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40080" y="2916907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✓  Tag en </a:t>
            </a:r>
            <a:r>
              <a:rPr lang="en-US" sz="900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todas las</a:t>
            </a: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 publicaci</a:t>
            </a:r>
            <a:r>
              <a:rPr lang="en-US" sz="900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ones </a:t>
            </a:r>
            <a:r>
              <a:rPr i="0" lang="en-US" sz="900" u="none" cap="none" strike="noStrike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de redes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291850" y="1188650"/>
            <a:ext cx="2560200" cy="3200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291890" y="1280162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i="0" lang="en-US" sz="1400" u="none" cap="none" strike="noStrike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INTERMEDIO</a:t>
            </a:r>
            <a:endParaRPr i="0" sz="14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291890" y="1600202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$35,000</a:t>
            </a:r>
            <a:endParaRPr i="0" sz="16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291890" y="1920242"/>
            <a:ext cx="256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FF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CCCCFF"/>
                </a:solidFill>
                <a:latin typeface="Proxima Nova"/>
                <a:ea typeface="Proxima Nova"/>
                <a:cs typeface="Proxima Nova"/>
                <a:sym typeface="Proxima Nova"/>
              </a:rPr>
              <a:t>MXN / sesión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3566110" y="2148905"/>
            <a:ext cx="2011800" cy="9000"/>
          </a:xfrm>
          <a:prstGeom prst="rect">
            <a:avLst/>
          </a:prstGeom>
          <a:solidFill>
            <a:srgbClr val="444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474770" y="2240282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EFF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EEEEFF"/>
                </a:solidFill>
                <a:latin typeface="Proxima Nova"/>
                <a:ea typeface="Proxima Nova"/>
                <a:cs typeface="Proxima Nova"/>
                <a:sym typeface="Proxima Nova"/>
              </a:rPr>
              <a:t>✓  Todo lo del paquete Básico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474770" y="2587754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EFF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EEEEFF"/>
                </a:solidFill>
                <a:latin typeface="Proxima Nova"/>
                <a:ea typeface="Proxima Nova"/>
                <a:cs typeface="Proxima Nova"/>
                <a:sym typeface="Proxima Nova"/>
              </a:rPr>
              <a:t>✓  Logo en TODAS las plataformas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474770" y="2829886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EEEFF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EFF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EEEEFF"/>
                </a:solidFill>
                <a:latin typeface="Proxima Nova"/>
                <a:ea typeface="Proxima Nova"/>
                <a:cs typeface="Proxima Nova"/>
                <a:sym typeface="Proxima Nova"/>
              </a:rPr>
              <a:t>✓  </a:t>
            </a:r>
            <a:r>
              <a:rPr lang="en-US" sz="900">
                <a:solidFill>
                  <a:srgbClr val="EEEE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al inicio del contenido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474770" y="3213993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EFF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EEEEFF"/>
                </a:solidFill>
                <a:latin typeface="Proxima Nova"/>
                <a:ea typeface="Proxima Nova"/>
                <a:cs typeface="Proxima Nova"/>
                <a:sym typeface="Proxima Nova"/>
              </a:rPr>
              <a:t>✓  Mención en múltiples publicaciones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474770" y="3533989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EFF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EEEEFF"/>
                </a:solidFill>
                <a:latin typeface="Proxima Nova"/>
                <a:ea typeface="Proxima Nova"/>
                <a:cs typeface="Proxima Nova"/>
                <a:sym typeface="Proxima Nova"/>
              </a:rPr>
              <a:t>✓  Compartido (máx. 2-3, rubros distintos)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126475" y="961650"/>
            <a:ext cx="2560200" cy="3617700"/>
          </a:xfrm>
          <a:prstGeom prst="rect">
            <a:avLst/>
          </a:prstGeom>
          <a:solidFill>
            <a:srgbClr val="FFF5ED"/>
          </a:solidFill>
          <a:ln cap="flat" cmpd="sng" w="12700">
            <a:solidFill>
              <a:srgbClr val="E8D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126480" y="1065248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400"/>
              <a:buFont typeface="Arial"/>
              <a:buNone/>
            </a:pPr>
            <a:r>
              <a:rPr i="0" lang="en-US" sz="1400" u="none" cap="none" strike="noStrike">
                <a:solidFill>
                  <a:srgbClr val="C55A1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PREMIUM</a:t>
            </a:r>
            <a:endParaRPr i="0" sz="14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126480" y="1385288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 Black"/>
              <a:buNone/>
            </a:pPr>
            <a:r>
              <a:rPr i="0" lang="en-US" sz="1600" u="none" cap="none" strike="noStrike">
                <a:solidFill>
                  <a:srgbClr val="22222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$</a:t>
            </a:r>
            <a:r>
              <a:rPr lang="en-US" sz="1600">
                <a:solidFill>
                  <a:srgbClr val="22222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8</a:t>
            </a:r>
            <a:r>
              <a:rPr i="0" lang="en-US" sz="1600" u="none" cap="none" strike="noStrike">
                <a:solidFill>
                  <a:srgbClr val="22222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0,000</a:t>
            </a:r>
            <a:endParaRPr i="0" sz="16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126480" y="1705328"/>
            <a:ext cx="256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MXN / sesión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400800" y="1933928"/>
            <a:ext cx="2011800" cy="9000"/>
          </a:xfrm>
          <a:prstGeom prst="rect">
            <a:avLst/>
          </a:prstGeom>
          <a:solidFill>
            <a:srgbClr val="E8D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309360" y="2043685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C55A11"/>
                </a:solidFill>
                <a:latin typeface="Proxima Nova"/>
                <a:ea typeface="Proxima Nova"/>
                <a:cs typeface="Proxima Nova"/>
                <a:sym typeface="Proxima Nova"/>
              </a:rPr>
              <a:t>✓  PATROCINADOR ÚNICO Y EXCLUSIVO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309360" y="2372840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555555"/>
                </a:solidFill>
                <a:latin typeface="Proxima Nova"/>
                <a:ea typeface="Proxima Nova"/>
                <a:cs typeface="Proxima Nova"/>
                <a:sym typeface="Proxima Nova"/>
              </a:rPr>
              <a:t>✓  Logo </a:t>
            </a:r>
            <a:r>
              <a:rPr lang="en-US" sz="900">
                <a:solidFill>
                  <a:srgbClr val="555555"/>
                </a:solidFill>
                <a:latin typeface="Proxima Nova"/>
                <a:ea typeface="Proxima Nova"/>
                <a:cs typeface="Proxima Nova"/>
                <a:sym typeface="Proxima Nova"/>
              </a:rPr>
              <a:t>al inicio y al final </a:t>
            </a:r>
            <a:r>
              <a:rPr i="0" lang="en-US" sz="900" u="none" cap="none" strike="noStrike">
                <a:solidFill>
                  <a:srgbClr val="555555"/>
                </a:solidFill>
                <a:latin typeface="Proxima Nova"/>
                <a:ea typeface="Proxima Nova"/>
                <a:cs typeface="Proxima Nova"/>
                <a:sym typeface="Proxima Nova"/>
              </a:rPr>
              <a:t>del contenido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309360" y="2720312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555555"/>
                </a:solidFill>
                <a:latin typeface="Proxima Nova"/>
                <a:ea typeface="Proxima Nova"/>
                <a:cs typeface="Proxima Nova"/>
                <a:sym typeface="Proxima Nova"/>
              </a:rPr>
              <a:t>✓  Product placement </a:t>
            </a:r>
            <a:r>
              <a:rPr lang="en-US" sz="900">
                <a:solidFill>
                  <a:srgbClr val="555555"/>
                </a:solidFill>
                <a:latin typeface="Proxima Nova"/>
                <a:ea typeface="Proxima Nova"/>
                <a:cs typeface="Proxima Nova"/>
                <a:sym typeface="Proxima Nova"/>
              </a:rPr>
              <a:t>en la sesión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309360" y="3067784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555555"/>
                </a:solidFill>
                <a:latin typeface="Proxima Nova"/>
                <a:ea typeface="Proxima Nova"/>
                <a:cs typeface="Proxima Nova"/>
                <a:sym typeface="Proxima Nova"/>
              </a:rPr>
              <a:t>✓  Segmento branded en la sesión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309360" y="3387780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555555"/>
                </a:solidFill>
                <a:latin typeface="Proxima Nova"/>
                <a:ea typeface="Proxima Nova"/>
                <a:cs typeface="Proxima Nova"/>
                <a:sym typeface="Proxima Nova"/>
              </a:rPr>
              <a:t>✓  Uso del contenido en sus redes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309360" y="3698617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555555"/>
                </a:solidFill>
                <a:latin typeface="Proxima Nova"/>
                <a:ea typeface="Proxima Nova"/>
                <a:cs typeface="Proxima Nova"/>
                <a:sym typeface="Proxima Nova"/>
              </a:rPr>
              <a:t>✓  Sin competencia de otros sponsors</a:t>
            </a:r>
            <a:endParaRPr i="0" sz="9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48640" y="448056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</a:pPr>
            <a:r>
              <a:rPr i="1" lang="en-US" sz="7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* Precios en pesos mexicanos (MXN). Paquetes personalizados e intercambios en especie disponibles bajo consulta.</a:t>
            </a:r>
            <a:endParaRPr i="0" sz="7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48640" y="461772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</a:pPr>
            <a:r>
              <a:rPr i="1" lang="en-US" sz="7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* Descuentos disponibles para compromisos de 3+ sesiones consecutivas.</a:t>
            </a:r>
            <a:endParaRPr i="0" sz="7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309320" y="4000384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EFF"/>
              </a:buClr>
              <a:buSzPts val="900"/>
              <a:buFont typeface="Arial"/>
              <a:buNone/>
            </a:pPr>
            <a:r>
              <a:rPr i="0" lang="en-US" sz="900" cap="none" strike="noStrike">
                <a:solidFill>
                  <a:srgbClr val="555555"/>
                </a:solidFill>
                <a:latin typeface="Proxima Nova"/>
                <a:ea typeface="Proxima Nova"/>
                <a:cs typeface="Proxima Nova"/>
                <a:sym typeface="Proxima Nova"/>
              </a:rPr>
              <a:t>✓  1 Reel o TikTok dedicado</a:t>
            </a:r>
            <a:endParaRPr i="0" sz="900" cap="none" strike="noStrike">
              <a:solidFill>
                <a:srgbClr val="5555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40045" y="3227789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EFF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555555"/>
                </a:solidFill>
                <a:latin typeface="Proxima Nova"/>
                <a:ea typeface="Proxima Nova"/>
                <a:cs typeface="Proxima Nova"/>
                <a:sym typeface="Proxima Nova"/>
              </a:rPr>
              <a:t>✓  Compartido (máx. 2-3, rubros distintos)</a:t>
            </a:r>
            <a:endParaRPr i="0" sz="900" u="none" cap="none" strike="noStrike">
              <a:solidFill>
                <a:srgbClr val="5555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Arial Black"/>
              <a:buNone/>
            </a:pPr>
            <a:r>
              <a:rPr i="0" lang="en-US" sz="2800" u="none" cap="none" strike="noStrike">
                <a:solidFill>
                  <a:srgbClr val="22222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¿Por qué patrocinar VOID:LIVE?</a:t>
            </a:r>
            <a:endParaRPr i="0" sz="28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94360" y="1060704"/>
            <a:ext cx="109728" cy="109728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868680" y="10058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2222"/>
                </a:solidFill>
                <a:latin typeface="Proxima Nova"/>
                <a:ea typeface="Proxima Nova"/>
                <a:cs typeface="Proxima Nova"/>
                <a:sym typeface="Proxima Nova"/>
              </a:rPr>
              <a:t>Audiencia joven y engaged</a:t>
            </a:r>
            <a:endParaRPr b="1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868680" y="1261872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Acceso directo a consumidores de 18-30 años, el segmento más difícil de alcanzar con publicidad tradicional.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94360" y="1773936"/>
            <a:ext cx="109728" cy="109728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868680" y="171907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2222"/>
                </a:solidFill>
                <a:latin typeface="Proxima Nova"/>
                <a:ea typeface="Proxima Nova"/>
                <a:cs typeface="Proxima Nova"/>
                <a:sym typeface="Proxima Nova"/>
              </a:rPr>
              <a:t>Contenido de larga vida</a:t>
            </a:r>
            <a:endParaRPr b="1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868680" y="1975104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A diferencia de un post patrocinado que dura 24 horas, un video de live session genera views durante meses y años.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94360" y="2487168"/>
            <a:ext cx="109728" cy="109728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868680" y="243230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2222"/>
                </a:solidFill>
                <a:latin typeface="Proxima Nova"/>
                <a:ea typeface="Proxima Nova"/>
                <a:cs typeface="Proxima Nova"/>
                <a:sym typeface="Proxima Nova"/>
              </a:rPr>
              <a:t>Asociación cultural positiva</a:t>
            </a:r>
            <a:endParaRPr b="1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868680" y="2688336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Tu marca se posiciona junto a artistas emergentes y producción de calidad internacional. Marketing de contenido genuino.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94360" y="3200400"/>
            <a:ext cx="109728" cy="109728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868680" y="314553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2222"/>
                </a:solidFill>
                <a:latin typeface="Proxima Nova"/>
                <a:ea typeface="Proxima Nova"/>
                <a:cs typeface="Proxima Nova"/>
                <a:sym typeface="Proxima Nova"/>
              </a:rPr>
              <a:t>Multiplataforma nativo</a:t>
            </a:r>
            <a:endParaRPr b="1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868680" y="340156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Una sola inversión genera presencia en YouTube, Instagram y TikTok simultáneamente, adaptado a cada plataforma.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94360" y="3913632"/>
            <a:ext cx="109728" cy="109728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868680" y="38587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2222"/>
                </a:solidFill>
                <a:latin typeface="Proxima Nova"/>
                <a:ea typeface="Proxima Nova"/>
                <a:cs typeface="Proxima Nova"/>
                <a:sym typeface="Proxima Nova"/>
              </a:rPr>
              <a:t>Mercado sin competencia</a:t>
            </a:r>
            <a:endParaRPr b="1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68680" y="41148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VOID:LIVE es el primer formato de live session profesional minimalista en Guadalajara. Sé el patrocinador pionero.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Marcas como Adidas, Amazon Music y Bershka ya patrocinan live sessions internacionales. Sé el primero en México.</a:t>
            </a:r>
            <a:endParaRPr b="1" i="0" sz="1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3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i="0" lang="en-US" sz="2600" u="none" cap="none" strike="noStrike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Equipo</a:t>
            </a:r>
            <a:endParaRPr i="0" sz="26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48640" y="749808"/>
            <a:ext cx="1097280" cy="3657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48640" y="10058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David Del Rio Castro</a:t>
            </a:r>
            <a:endParaRPr b="1" i="0" sz="1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48640" y="12801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Director Creativo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Productor Ejecutivo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Ingeniero de Audio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LTM — Tec de Monterrey GDL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2651760" y="10058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Diego Navarro</a:t>
            </a:r>
            <a:endParaRPr b="1" i="0" sz="1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2651760" y="12801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Videógrafo / Editor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Egresado CCA — UP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754880" y="10058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Diego Kim</a:t>
            </a:r>
            <a:endParaRPr b="1" i="0" sz="1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754880" y="12801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Videógrafo / Cámara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Egresado CCA — UP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858000" y="10058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André Manjarrez</a:t>
            </a:r>
            <a:endParaRPr b="1" i="0" sz="1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858000" y="12801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Videógrafo / Cámara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Egresado CCA — UP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48640" y="2286000"/>
            <a:ext cx="804672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48640" y="25603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i="0" lang="en-US" sz="2600" u="none" cap="none" strike="noStrike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Hablemos</a:t>
            </a:r>
            <a:endParaRPr i="0" sz="2600" u="none" cap="none" strike="noStrike">
              <a:solidFill>
                <a:schemeClr val="dk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48640" y="3035808"/>
            <a:ext cx="1371600" cy="3657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48640" y="32461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rPr>
              <a:t>Estamos abiertos a propuestas de patrocinio, colaboraciones</a:t>
            </a:r>
            <a:endParaRPr i="0" sz="1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rPr>
              <a:t>e intercambios en especie. Cada paquete es personalizable.</a:t>
            </a:r>
            <a:endParaRPr i="0" sz="1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48640" y="3840480"/>
            <a:ext cx="2286000" cy="685800"/>
          </a:xfrm>
          <a:prstGeom prst="rect">
            <a:avLst/>
          </a:prstGeom>
          <a:solidFill>
            <a:srgbClr val="1111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685800" y="388620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C55A11"/>
                </a:solidFill>
                <a:latin typeface="Proxima Nova"/>
                <a:ea typeface="Proxima Nova"/>
                <a:cs typeface="Proxima Nova"/>
                <a:sym typeface="Proxima Nova"/>
              </a:rPr>
              <a:t>EMAIL</a:t>
            </a:r>
            <a:endParaRPr b="1"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85775" y="4127255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david.del.rio0814@gmail.com</a:t>
            </a:r>
            <a:endParaRPr sz="10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85800" y="425196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3108960" y="3840480"/>
            <a:ext cx="2286000" cy="685800"/>
          </a:xfrm>
          <a:prstGeom prst="rect">
            <a:avLst/>
          </a:prstGeom>
          <a:solidFill>
            <a:srgbClr val="1111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3246120" y="388620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C55A11"/>
                </a:solidFill>
                <a:latin typeface="Proxima Nova"/>
                <a:ea typeface="Proxima Nova"/>
                <a:cs typeface="Proxima Nova"/>
                <a:sym typeface="Proxima Nova"/>
              </a:rPr>
              <a:t>UBICACIÓN</a:t>
            </a:r>
            <a:endParaRPr b="1"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246120" y="406908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Guadalajara, Jalisco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3246120" y="425196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México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669280" y="3840480"/>
            <a:ext cx="2286000" cy="685800"/>
          </a:xfrm>
          <a:prstGeom prst="rect">
            <a:avLst/>
          </a:prstGeom>
          <a:solidFill>
            <a:srgbClr val="1111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806440" y="388620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C55A11"/>
                </a:solidFill>
                <a:latin typeface="Proxima Nova"/>
                <a:ea typeface="Proxima Nova"/>
                <a:cs typeface="Proxima Nova"/>
                <a:sym typeface="Proxima Nova"/>
              </a:rPr>
              <a:t>REDES</a:t>
            </a:r>
            <a:endParaRPr b="1"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806440" y="406908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@voidlive</a:t>
            </a:r>
            <a:endParaRPr i="0" sz="1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806440" y="425196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YouTube · IG · TikTok</a:t>
            </a:r>
            <a:endParaRPr i="0" sz="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0" y="46177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44"/>
              </a:buClr>
              <a:buSzPts val="2400"/>
              <a:buFont typeface="Arial Black"/>
              <a:buNone/>
            </a:pPr>
            <a:r>
              <a:rPr i="0" lang="en-US" sz="2400" u="none" cap="none" strike="noStrike">
                <a:solidFill>
                  <a:srgbClr val="222244"/>
                </a:solidFill>
                <a:latin typeface="Proxima Nova"/>
                <a:ea typeface="Proxima Nova"/>
                <a:cs typeface="Proxima Nova"/>
                <a:sym typeface="Proxima Nova"/>
              </a:rPr>
              <a:t>VOID:LIVE</a:t>
            </a:r>
            <a:endParaRPr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